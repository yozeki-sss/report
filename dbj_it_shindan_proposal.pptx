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34772c53-1984-1d0f-a0b9-0543bf0e1f9c}">
          <p14:sldIdLst>
            <p14:sldId id="256"/>
          </p14:sldIdLst>
        </p14:section>
        <p14:section name="狙いと全体像" id="{9152ba63-cffb-ca52-7b04-0f6db39af472}">
          <p14:sldIdLst>
            <p14:sldId id="257"/>
            <p14:sldId id="258"/>
            <p14:sldId id="259"/>
          </p14:sldIdLst>
        </p14:section>
        <p14:section name="ホワイトペーパー" id="{2be714e2-0fa6-385f-671e-4b6b1eced715}">
          <p14:sldIdLst>
            <p14:sldId id="260"/>
            <p14:sldId id="261"/>
            <p14:sldId id="262"/>
          </p14:sldIdLst>
        </p14:section>
        <p14:section name="流入コラム" id="{515d5a94-9a0c-415e-df72-bcb9e2290c73}">
          <p14:sldIdLst>
            <p14:sldId id="263"/>
          </p14:sldIdLst>
        </p14:section>
        <p14:section name="進め方" id="{62510c81-a749-cfd4-cad2-3db8659a7f21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IT診断サービス コンテンツ施策のご提案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CONTENT MARKETING PROPOSAL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IT診断サービスの訴求に向けた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コンテンツ施策のご提案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経営層向け「IT健康診断」チェックリスト（ホワイトペーパー）と、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流入元となるコラム群の設計案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ご提案資料（案）　2026年10月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経営層の3つの悩みを、IT診断への入口にする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想定ペルソナ：経営層（関心の軸は、経営リスク・投資対効果・成長戦略）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投資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「IT投資が経営にどう効いているか、説明できない」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投資対効果を、経営の言葉で語れていない状態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297680" y="182880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リスク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926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「IT起因の経営リスク（セキュリティ・BCP等）を把握できていない」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止まったとき・漏れたときの影響が見えていない状態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8046720" y="1828800"/>
            <a:ext cx="35661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8321040" y="2057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競争力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9260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「DXで他社に後れを取っていないか不安」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548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経営戦略とIT施策がつながっているか確信が持てない状態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※悩みは仮説です。営業・コンサルタントの方へのヒアリングで検証します。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コンテンツの使い方：Webと営業、2つの入口からIT診断へ</a:t>
            </a:r>
            <a:endParaRPr lang="en-US" sz="2800" dirty="0"/>
          </a:p>
        </p:txBody>
      </p:sp>
      <p:sp>
        <p:nvSpPr>
          <p:cNvPr id="3" name="Lane"/>
          <p:cNvSpPr/>
          <p:nvPr/>
        </p:nvSpPr>
        <p:spPr>
          <a:xfrm>
            <a:off x="548640" y="1463040"/>
            <a:ext cx="1554480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15544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Web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検索・メルマガ</a:t>
            </a:r>
            <a:endParaRPr lang="en-US" sz="2200" dirty="0"/>
          </a:p>
        </p:txBody>
      </p:sp>
      <p:sp>
        <p:nvSpPr>
          <p:cNvPr id="5" name="Step"/>
          <p:cNvSpPr/>
          <p:nvPr/>
        </p:nvSpPr>
        <p:spPr>
          <a:xfrm>
            <a:off x="2331720" y="146304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コラム／メルマガ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コラムは検索で、メルマガは既存リードに届ける</a:t>
            </a:r>
            <a:endParaRPr lang="en-US" sz="1300" dirty="0"/>
          </a:p>
        </p:txBody>
      </p:sp>
      <p:sp>
        <p:nvSpPr>
          <p:cNvPr id="8" name="Arrow"/>
          <p:cNvSpPr/>
          <p:nvPr/>
        </p:nvSpPr>
        <p:spPr>
          <a:xfrm>
            <a:off x="4526280" y="2176272"/>
            <a:ext cx="246888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tep"/>
          <p:cNvSpPr/>
          <p:nvPr/>
        </p:nvSpPr>
        <p:spPr>
          <a:xfrm>
            <a:off x="4800600" y="146304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WPダウンロード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10分のセルフチェックで現在地を知る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6995160" y="2176272"/>
            <a:ext cx="246888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Step"/>
          <p:cNvSpPr/>
          <p:nvPr/>
        </p:nvSpPr>
        <p:spPr>
          <a:xfrm>
            <a:off x="7269480" y="146304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600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問い合わせ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19456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結果をもとに問い合わせ、または営業からフォロー</a:t>
            </a:r>
            <a:endParaRPr lang="en-US" sz="1300" dirty="0"/>
          </a:p>
        </p:txBody>
      </p:sp>
      <p:sp>
        <p:nvSpPr>
          <p:cNvPr id="16" name="Lane"/>
          <p:cNvSpPr/>
          <p:nvPr/>
        </p:nvSpPr>
        <p:spPr>
          <a:xfrm>
            <a:off x="548640" y="3383280"/>
            <a:ext cx="1554480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383280"/>
            <a:ext cx="15544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営業</a:t>
            </a:r>
            <a:endParaRPr lang="en-US" sz="2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商談・営業トーク</a:t>
            </a:r>
            <a:endParaRPr lang="en-US" sz="2200" dirty="0"/>
          </a:p>
        </p:txBody>
      </p:sp>
      <p:sp>
        <p:nvSpPr>
          <p:cNvPr id="18" name="Step"/>
          <p:cNvSpPr/>
          <p:nvPr/>
        </p:nvSpPr>
        <p:spPr>
          <a:xfrm>
            <a:off x="2331720" y="338328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1460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商談・営業トーク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4114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課題のヒアリング中に、WPを紹介する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4526280" y="4096512"/>
            <a:ext cx="246888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Step"/>
          <p:cNvSpPr/>
          <p:nvPr/>
        </p:nvSpPr>
        <p:spPr>
          <a:xfrm>
            <a:off x="4800600" y="338328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WPを一緒に記入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4114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営業用の版で、その場でチェックする</a:t>
            </a:r>
            <a:endParaRPr lang="en-US" sz="1300" dirty="0"/>
          </a:p>
        </p:txBody>
      </p:sp>
      <p:sp>
        <p:nvSpPr>
          <p:cNvPr id="25" name="Arrow"/>
          <p:cNvSpPr/>
          <p:nvPr/>
        </p:nvSpPr>
        <p:spPr>
          <a:xfrm>
            <a:off x="6995160" y="4096512"/>
            <a:ext cx="246888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Step"/>
          <p:cNvSpPr/>
          <p:nvPr/>
        </p:nvSpPr>
        <p:spPr>
          <a:xfrm>
            <a:off x="7269480" y="3383280"/>
            <a:ext cx="21488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52360" y="3520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結果の読み合わせ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452360" y="4114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NOだった項目を30分で一緒に確認</a:t>
            </a:r>
            <a:endParaRPr lang="en-US" sz="1300" dirty="0"/>
          </a:p>
        </p:txBody>
      </p:sp>
      <p:sp>
        <p:nvSpPr>
          <p:cNvPr id="29" name="Arrow"/>
          <p:cNvSpPr/>
          <p:nvPr/>
        </p:nvSpPr>
        <p:spPr>
          <a:xfrm>
            <a:off x="9555480" y="3154680"/>
            <a:ext cx="274320" cy="36576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Goal"/>
          <p:cNvSpPr/>
          <p:nvPr/>
        </p:nvSpPr>
        <p:spPr>
          <a:xfrm>
            <a:off x="9875520" y="1463040"/>
            <a:ext cx="1764792" cy="3657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1463040"/>
            <a:ext cx="1764792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IT診断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サービス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2〜3カ月の診断へ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同じホワイトペーパーを、Webでは集客に、営業の場では会話の道具に使います。営業用の版（NO項目＝診断の仮説）も用意します。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悩みとIT診断の8領域を対応づける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539496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経営層の悩み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対応する診断領域（サービスページ）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チェックリストの軸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① IT投資が経営にどう効いているか説明できない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IT投資、IT戦略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投資（7問）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② IT起因の経営リスクを把握できていない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ITリスク（セキュリティ・IT-BCP・内部統制）、IT調達（ベンダー依存）、ITオペレーション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リスク（7問）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③ DXで他社に後れを取っていないか不安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</a:rPr>
                        <a:t>IT戦略、IT組織/IT人材、アプリケーション、ITアーキテクチャ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</a:rPr>
                        <a:t>競争力（7問）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結果が3軸で返るため、「どの悩みに、診断のどの領域で応えられるか」がそのまま営業トークになります。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ホワイトペーパー案：10分で分かるIT健康診断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仮タイトル：「経営層のための IT健康診断チェックリスト」</a:t>
            </a:r>
            <a:endParaRPr lang="en-US" sz="1800" dirty="0"/>
          </a:p>
        </p:txBody>
      </p:sp>
      <p:sp>
        <p:nvSpPr>
          <p:cNvPr id="4" name="Badge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はじめに：なぜ今、経営がITの健康状態を問うべきか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1p</a:t>
            </a:r>
            <a:endParaRPr lang="en-US" sz="1400" dirty="0"/>
          </a:p>
        </p:txBody>
      </p:sp>
      <p:sp>
        <p:nvSpPr>
          <p:cNvPr id="8" name="Badge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4203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使い方：10分、YES/NOで回答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5420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1p</a:t>
            </a:r>
            <a:endParaRPr lang="en-US" sz="1400" dirty="0"/>
          </a:p>
        </p:txBody>
      </p:sp>
      <p:sp>
        <p:nvSpPr>
          <p:cNvPr id="12" name="Badge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25526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チェックリスト：3軸×7問＝21問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25526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6〜8p</a:t>
            </a:r>
            <a:endParaRPr lang="en-US" sz="1400" dirty="0"/>
          </a:p>
        </p:txBody>
      </p:sp>
      <p:sp>
        <p:nvSpPr>
          <p:cNvPr id="16" name="Badge"/>
          <p:cNvSpPr/>
          <p:nvPr/>
        </p:nvSpPr>
        <p:spPr>
          <a:xfrm>
            <a:off x="548640" y="396849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9684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スコアの見方と、よくある「危険パターン」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96849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2p</a:t>
            </a:r>
            <a:endParaRPr lang="en-US" sz="1400" dirty="0"/>
          </a:p>
        </p:txBody>
      </p:sp>
      <p:sp>
        <p:nvSpPr>
          <p:cNvPr id="20" name="Badge"/>
          <p:cNvSpPr/>
          <p:nvPr/>
        </p:nvSpPr>
        <p:spPr>
          <a:xfrm>
            <a:off x="548640" y="4681728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81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6817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結果別の次の一手：今すぐ着手できる3つの打ち手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681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1〜2p</a:t>
            </a:r>
            <a:endParaRPr lang="en-US" sz="1400" dirty="0"/>
          </a:p>
        </p:txBody>
      </p:sp>
      <p:sp>
        <p:nvSpPr>
          <p:cNvPr id="24" name="Badge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5394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専門家による診断のご案内と問い合わせ導線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394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1p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7863840" y="1828800"/>
            <a:ext cx="3749040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9244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仕様（案）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51460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ボリューム：12〜16ページ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所要時間：約10分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回答形式：YES/NO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設問数：21問（3軸×7問）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出力：総合スコアと軸別の内訳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別版：営業用ヒアリングシート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YES/NOで答え、総合スコアと内訳で見せる</a:t>
            </a:r>
            <a:endParaRPr lang="en-US" sz="2800" dirty="0"/>
          </a:p>
        </p:txBody>
      </p:sp>
      <p:sp>
        <p:nvSpPr>
          <p:cNvPr id="3" name="Stat"/>
          <p:cNvSpPr/>
          <p:nvPr/>
        </p:nvSpPr>
        <p:spPr>
          <a:xfrm>
            <a:off x="548640" y="1325880"/>
            <a:ext cx="35661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21問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3軸×7問</a:t>
            </a:r>
            <a:endParaRPr lang="en-US" sz="1400" dirty="0"/>
          </a:p>
        </p:txBody>
      </p:sp>
      <p:sp>
        <p:nvSpPr>
          <p:cNvPr id="6" name="Stat"/>
          <p:cNvSpPr/>
          <p:nvPr/>
        </p:nvSpPr>
        <p:spPr>
          <a:xfrm>
            <a:off x="4297680" y="1325880"/>
            <a:ext cx="35661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97680" y="1371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10分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回答の目安</a:t>
            </a:r>
            <a:endParaRPr lang="en-US" sz="1400" dirty="0"/>
          </a:p>
        </p:txBody>
      </p:sp>
      <p:sp>
        <p:nvSpPr>
          <p:cNvPr id="9" name="Stat"/>
          <p:cNvSpPr/>
          <p:nvPr/>
        </p:nvSpPr>
        <p:spPr>
          <a:xfrm>
            <a:off x="8046720" y="1325880"/>
            <a:ext cx="356616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3716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YES=1点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0" y="2194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NO=0点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総合スコアの判定（21点満点）</a:t>
            </a:r>
            <a:endParaRPr lang="en-US" sz="1800" dirty="0"/>
          </a:p>
        </p:txBody>
      </p:sp>
      <p:sp>
        <p:nvSpPr>
          <p:cNvPr id="13" name="Grade"/>
          <p:cNvSpPr/>
          <p:nvPr/>
        </p:nvSpPr>
        <p:spPr>
          <a:xfrm>
            <a:off x="548640" y="3429000"/>
            <a:ext cx="1783080" cy="10972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474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17〜21点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良好</a:t>
            </a:r>
            <a:endParaRPr lang="en-US" sz="1600" dirty="0"/>
          </a:p>
        </p:txBody>
      </p:sp>
      <p:sp>
        <p:nvSpPr>
          <p:cNvPr id="16" name="Grade"/>
          <p:cNvSpPr/>
          <p:nvPr/>
        </p:nvSpPr>
        <p:spPr>
          <a:xfrm>
            <a:off x="2468880" y="3429000"/>
            <a:ext cx="1783080" cy="10972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68880" y="3474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11〜16点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要注意</a:t>
            </a:r>
            <a:endParaRPr lang="en-US" sz="1600" dirty="0"/>
          </a:p>
        </p:txBody>
      </p:sp>
      <p:sp>
        <p:nvSpPr>
          <p:cNvPr id="19" name="Grade"/>
          <p:cNvSpPr/>
          <p:nvPr/>
        </p:nvSpPr>
        <p:spPr>
          <a:xfrm>
            <a:off x="4389120" y="3429000"/>
            <a:ext cx="1783080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3474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0〜10点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39776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要対応</a:t>
            </a:r>
            <a:endParaRPr lang="en-US" sz="1600" dirty="0"/>
          </a:p>
        </p:txBody>
      </p:sp>
      <p:sp>
        <p:nvSpPr>
          <p:cNvPr id="22" name="Example"/>
          <p:cNvSpPr/>
          <p:nvPr/>
        </p:nvSpPr>
        <p:spPr>
          <a:xfrm>
            <a:off x="548640" y="4709160"/>
            <a:ext cx="5669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754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結果の見え方（例）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総合 12点／21点（要注意）。内訳は、投資 3/7、リスク 5/7、競争力 4/7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点数の区切りは暫定です。実際の診断案件の傾向をもとに調整します。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6400800" y="2926080"/>
            <a:ext cx="521208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29400" y="3063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設計のポイント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611880"/>
            <a:ext cx="4754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YES/NOで迷わないよう、設問は「文書がある」「直近1年以内に見直した」など事実で判定できる書き方にする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まず総合スコアで現在地を一言で伝え、軸別の内訳で弱い所を示す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致命的な項目（IT-BCP未整備など）がNOなら、点数に関係なく「最優先の確認事項」として警告する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設問のイメージ（全21問のうち9問）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6616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投資</a:t>
            </a:r>
            <a:endParaRPr lang="en-US" sz="2000" dirty="0"/>
          </a:p>
        </p:txBody>
      </p:sp>
      <p:sp>
        <p:nvSpPr>
          <p:cNvPr id="5" name="Question"/>
          <p:cNvSpPr/>
          <p:nvPr/>
        </p:nvSpPr>
        <p:spPr>
          <a:xfrm>
            <a:off x="731520" y="210312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中長期のIT投資計画があり、直近1年以内に経営会議で承認・見直しされている</a:t>
            </a:r>
            <a:endParaRPr lang="en-US" sz="1300" dirty="0"/>
          </a:p>
        </p:txBody>
      </p:sp>
      <p:sp>
        <p:nvSpPr>
          <p:cNvPr id="7" name="Question"/>
          <p:cNvSpPr/>
          <p:nvPr/>
        </p:nvSpPr>
        <p:spPr>
          <a:xfrm>
            <a:off x="731520" y="342900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主要なIT投資について、投資前に期待効果を数値で定め、投資後に結果を確認している</a:t>
            </a:r>
            <a:endParaRPr lang="en-US" sz="1300" dirty="0"/>
          </a:p>
        </p:txBody>
      </p:sp>
      <p:sp>
        <p:nvSpPr>
          <p:cNvPr id="9" name="Question"/>
          <p:cNvSpPr/>
          <p:nvPr/>
        </p:nvSpPr>
        <p:spPr>
          <a:xfrm>
            <a:off x="731520" y="47548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IT予算を「維持・運用」と「新規・変革」に分けて説明できる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297680" y="1325880"/>
            <a:ext cx="356616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リスク</a:t>
            </a:r>
            <a:endParaRPr lang="en-US" sz="2000" dirty="0"/>
          </a:p>
        </p:txBody>
      </p:sp>
      <p:sp>
        <p:nvSpPr>
          <p:cNvPr id="13" name="Question"/>
          <p:cNvSpPr/>
          <p:nvPr/>
        </p:nvSpPr>
        <p:spPr>
          <a:xfrm>
            <a:off x="4480560" y="210312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重要システムごとに、停止時の事業影響と許容停止時間が文書で整理されている</a:t>
            </a:r>
            <a:endParaRPr lang="en-US" sz="1300" dirty="0"/>
          </a:p>
        </p:txBody>
      </p:sp>
      <p:sp>
        <p:nvSpPr>
          <p:cNvPr id="15" name="Question"/>
          <p:cNvSpPr/>
          <p:nvPr/>
        </p:nvSpPr>
        <p:spPr>
          <a:xfrm>
            <a:off x="4480560" y="342900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0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IT-BCP（復旧手順）があり、直近2年以内に訓練または見直しを行った</a:t>
            </a:r>
            <a:endParaRPr lang="en-US" sz="1300" dirty="0"/>
          </a:p>
        </p:txBody>
      </p:sp>
      <p:sp>
        <p:nvSpPr>
          <p:cNvPr id="17" name="Question"/>
          <p:cNvSpPr/>
          <p:nvPr/>
        </p:nvSpPr>
        <p:spPr>
          <a:xfrm>
            <a:off x="4480560" y="47548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主要システムの運用が、特定のベンダーや担当者なしでも継続できる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8046720" y="1325880"/>
            <a:ext cx="3566160" cy="47548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1463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競争力</a:t>
            </a:r>
            <a:endParaRPr lang="en-US" sz="2000" dirty="0"/>
          </a:p>
        </p:txBody>
      </p:sp>
      <p:sp>
        <p:nvSpPr>
          <p:cNvPr id="21" name="Question"/>
          <p:cNvSpPr/>
          <p:nvPr/>
        </p:nvSpPr>
        <p:spPr>
          <a:xfrm>
            <a:off x="8229600" y="210312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2148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経営課題とIT施策の対応関係を、1枚の資料で説明できる</a:t>
            </a:r>
            <a:endParaRPr lang="en-US" sz="1300" dirty="0"/>
          </a:p>
        </p:txBody>
      </p:sp>
      <p:sp>
        <p:nvSpPr>
          <p:cNvPr id="23" name="Question"/>
          <p:cNvSpPr/>
          <p:nvPr/>
        </p:nvSpPr>
        <p:spPr>
          <a:xfrm>
            <a:off x="8229600" y="342900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IT人材に求める役割・スキルが定義され、育成または採用の計画がある</a:t>
            </a:r>
            <a:endParaRPr lang="en-US" sz="1300" dirty="0"/>
          </a:p>
        </p:txBody>
      </p:sp>
      <p:sp>
        <p:nvSpPr>
          <p:cNvPr id="25" name="Question"/>
          <p:cNvSpPr/>
          <p:nvPr/>
        </p:nvSpPr>
        <p:spPr>
          <a:xfrm>
            <a:off x="8229600" y="4754880"/>
            <a:ext cx="3200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2104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業務システムの改善・刷新の優先順位が、経営視点の基準で決まっている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すべて「YES／NO」で回答します。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流入コラム案：出口は「チェックリストで現在地を確認」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4846320"/>
                <a:gridCol w="4846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悩み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仮タイトル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狙うキーワード（月間検索数）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投資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IT投資の効果を経営に説明できない本当の理由と、投資対効果の考え方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IT投資 250 ／ IT投資とは 150 ／ IT投資 事例 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投資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取締役会・経営会議で承認されるIT投資計画の作り方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IT投資管理 70 ／ IT投資予算 60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リスク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経営者が押さえるべきITリスク5分類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IT統制 400 ／ IT全般統制 250 ／ ITリスク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リスク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IT-BCPとは？「止まったらどうなるか」を経営が答えられるか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IT-BCP 700 ／ BCP システム 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競争力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DXで他社に後れを取っているか？経営層向け自己チェックの観点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DX 遅れ 100 ／ DX推進指標 100 ／ DX 日本 遅れ 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競争力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IT戦略と経営戦略がつながらない会社に共通する3つの症状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IT戦略 500 ／ IT戦略 策定 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α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</a:rPr>
                        <a:t>全体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「IT診断」とは何か：やること、期間、費用感の考え方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</a:rPr>
                        <a:t>IT診断 60 ／ IT健康診断 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検索数はAhrefs（日本、2026年10月時点）。実施可否ではなく、タイトルとキーワードの選定に使います。各コラムの末尾に該当軸の設問を2〜3問抜粋し、WPの中身を想像できるようにします。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進め方：リスク軸のコラムから先行して拡充する</a:t>
            </a:r>
            <a:endParaRPr lang="en-US" sz="2800" dirty="0"/>
          </a:p>
        </p:txBody>
      </p:sp>
      <p:sp>
        <p:nvSpPr>
          <p:cNvPr id="3" name="Phase"/>
          <p:cNvSpPr/>
          <p:nvPr/>
        </p:nvSpPr>
        <p:spPr>
          <a:xfrm>
            <a:off x="548640" y="1371600"/>
            <a:ext cx="26517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準備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要件整理・設問確定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004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キーワード調査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設問21問と判定基準の確定（営業・コンサルタントの監修）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統計・出典の確認方針</a:t>
            </a:r>
            <a:endParaRPr lang="en-US" sz="1300" dirty="0"/>
          </a:p>
        </p:txBody>
      </p:sp>
      <p:sp>
        <p:nvSpPr>
          <p:cNvPr id="9" name="Phase"/>
          <p:cNvSpPr/>
          <p:nvPr/>
        </p:nvSpPr>
        <p:spPr>
          <a:xfrm>
            <a:off x="3383280" y="1371600"/>
            <a:ext cx="26517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先行公開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コラム#3、#1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2004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経営層が反応しやすいリスク・投資から着手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末尾から「近日公開のWP」へ事前登録</a:t>
            </a:r>
            <a:endParaRPr lang="en-US" sz="1300" dirty="0"/>
          </a:p>
        </p:txBody>
      </p:sp>
      <p:sp>
        <p:nvSpPr>
          <p:cNvPr id="15" name="Phase"/>
          <p:cNvSpPr/>
          <p:nvPr/>
        </p:nvSpPr>
        <p:spPr>
          <a:xfrm>
            <a:off x="6217920" y="1371600"/>
            <a:ext cx="26517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WP公開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WP制作・公開 / コラム#5、#4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2004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WP本編と営業用版の制作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ダウンロードフォームと結果の読み方メール</a:t>
            </a:r>
            <a:endParaRPr lang="en-US" sz="1300" dirty="0"/>
          </a:p>
        </p:txBody>
      </p:sp>
      <p:sp>
        <p:nvSpPr>
          <p:cNvPr id="21" name="Phase"/>
          <p:cNvSpPr/>
          <p:nvPr/>
        </p:nvSpPr>
        <p:spPr>
          <a:xfrm>
            <a:off x="9052560" y="1371600"/>
            <a:ext cx="2651760" cy="4206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928116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81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96696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拡充・改善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377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コラム#2、#6、#α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20040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残りのコラムを公開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指標を見て設問・導線を改善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スケジュールの期間は、ご体制・ご予算の確認後にお出しします。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営業での活用と、見るべき指標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営業での使い方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営業用の版：回答済みの結果を見ながら、NOの項目を診断の仮説として話せる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結果の読み合わせ（30分）を、問い合わせ前の入口にする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展示会・セミナー・既存顧客への案内でも、同じチェックリストを配布できる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指標の見方（ファネル）</a:t>
            </a:r>
            <a:endParaRPr lang="en-US" sz="1800" dirty="0"/>
          </a:p>
        </p:txBody>
      </p:sp>
      <p:sp>
        <p:nvSpPr>
          <p:cNvPr id="7" name="Funnel"/>
          <p:cNvSpPr/>
          <p:nvPr/>
        </p:nvSpPr>
        <p:spPr>
          <a:xfrm>
            <a:off x="6263640" y="2011680"/>
            <a:ext cx="5349240" cy="777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20116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コラム：PV・WPへのクリック率</a:t>
            </a:r>
            <a:endParaRPr lang="en-US" sz="1400" dirty="0"/>
          </a:p>
        </p:txBody>
      </p:sp>
      <p:sp>
        <p:nvSpPr>
          <p:cNvPr id="9" name="Funnel"/>
          <p:cNvSpPr/>
          <p:nvPr/>
        </p:nvSpPr>
        <p:spPr>
          <a:xfrm>
            <a:off x="6652260" y="2971800"/>
            <a:ext cx="4572000" cy="777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52260" y="29718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WP：ダウンロード数</a:t>
            </a:r>
            <a:endParaRPr lang="en-US" sz="1400" dirty="0"/>
          </a:p>
        </p:txBody>
      </p:sp>
      <p:sp>
        <p:nvSpPr>
          <p:cNvPr id="11" name="Funnel"/>
          <p:cNvSpPr/>
          <p:nvPr/>
        </p:nvSpPr>
        <p:spPr>
          <a:xfrm>
            <a:off x="7018020" y="3931920"/>
            <a:ext cx="3840480" cy="7772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18020" y="3931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読み合わせ：実施率</a:t>
            </a:r>
            <a:endParaRPr lang="en-US" sz="1400" dirty="0"/>
          </a:p>
        </p:txBody>
      </p:sp>
      <p:sp>
        <p:nvSpPr>
          <p:cNvPr id="13" name="Funnel"/>
          <p:cNvSpPr/>
          <p:nvPr/>
        </p:nvSpPr>
        <p:spPr>
          <a:xfrm>
            <a:off x="7383780" y="4892040"/>
            <a:ext cx="3108960" cy="7772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83780" y="4892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IT診断：商談化数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5897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目標値は、現状の数値を伺ってから設定します。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ご確認事項と次のステップ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440680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ご確認したいこと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対象企業の規模（中堅か大企業か）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設問・判定基準を監修いただける方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ダウンロードフォームの取得項目と、営業への引き継ぎ方法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コラムの掲載先と、現在のアクセス状況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公的データを引用する際の出典の扱い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172200" y="1371600"/>
            <a:ext cx="5440680" cy="39319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5087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次のステップ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057400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本資料へのご意見・優先順位のご確認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キーワード調査の実施（コラムの優先順位づけ）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チェックリスト全21問と判定ルールの草案作成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最初のコラム1本の構成案と本文ドラフト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体制・スケジュール・お見積りのご提示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J IT Shindan Proposal">
  <a:themeElements>
    <a:clrScheme name="DBJ IT Shindan Proposal">
      <a:dk1>
        <a:srgbClr val="333333"/>
      </a:dk1>
      <a:lt1>
        <a:srgbClr val="FFFFFF"/>
      </a:lt1>
      <a:dk2>
        <a:srgbClr val="1F3A5F"/>
      </a:dk2>
      <a:lt2>
        <a:srgbClr val="F4F6F9"/>
      </a:lt2>
      <a:accent1>
        <a:srgbClr val="1F3A5F"/>
      </a:accent1>
      <a:accent2>
        <a:srgbClr val="5B7399"/>
      </a:accent2>
      <a:accent3>
        <a:srgbClr val="D5DCE8"/>
      </a:accent3>
      <a:accent4>
        <a:srgbClr val="333333"/>
      </a:accent4>
      <a:accent5>
        <a:srgbClr val="6B7280"/>
      </a:accent5>
      <a:accent6>
        <a:srgbClr val="D9DDE3"/>
      </a:accent6>
      <a:hlink>
        <a:srgbClr val="1F3A5F"/>
      </a:hlink>
      <a:folHlink>
        <a:srgbClr val="6B7280"/>
      </a:folHlink>
    </a:clrScheme>
    <a:fontScheme name="DBJ IT Shindan Proposal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IT診断サービス コンテンツ施策のご提案</dc:title>
  <dc:subject>PptxGenJS Presentation</dc:subject>
  <dc:creator>PptxGenJS</dc:creator>
  <cp:lastModifiedBy>PptxGenJS</cp:lastModifiedBy>
  <cp:revision>1</cp:revision>
  <dcterms:created xsi:type="dcterms:W3CDTF">2026-10-27T01:16:51Z</dcterms:created>
  <dcterms:modified xsi:type="dcterms:W3CDTF">2026-10-27T01:16:51Z</dcterms:modified>
</cp:coreProperties>
</file>