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6fc3e761-cd2b-526e-850e-4043932c30f5}">
          <p14:sldIdLst>
            <p14:sldId id="256"/>
          </p14:sldIdLst>
        </p14:section>
        <p14:section name="狙いと全体像" id="{b38afeb7-b4bc-db6d-a54a-b2d942a78075}">
          <p14:sldIdLst>
            <p14:sldId id="257"/>
            <p14:sldId id="258"/>
            <p14:sldId id="259"/>
          </p14:sldIdLst>
        </p14:section>
        <p14:section name="ホワイトペーパー" id="{e33afc20-6ac9-aacf-8baa-b87a55fd5048}">
          <p14:sldIdLst>
            <p14:sldId id="260"/>
            <p14:sldId id="261"/>
            <p14:sldId id="262"/>
          </p14:sldIdLst>
        </p14:section>
        <p14:section name="流入コラム" id="{798a9742-0c9d-3051-40ad-50b4fe0fd66d}">
          <p14:sldIdLst>
            <p14:sldId id="263"/>
          </p14:sldIdLst>
        </p14:section>
        <p14:section name="進め方" id="{3aa98321-a7e8-86aa-7817-0ab45ac375e9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4F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IT診断サービス コンテンツ施策のご提案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6"/>
                </a:solidFill>
              </a:rPr>
              <a:t>CONTENT MARKETING PROPOSAL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IT診断サービスの訴求に向けた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コンテンツ施策のご提案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経営層向け「IT健康診断」チェックリスト（ホワイトペーパー）と、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流入元となるコラム群の設計案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ご提案資料（案）　2026年10月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経営層の3つの悩みを、IT診断への入口にする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想定ペルソナ：経営層（関心の軸は、経営リスク・投資対効果・成長戦略）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548640" y="1828800"/>
            <a:ext cx="35661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"/>
          <p:cNvSpPr/>
          <p:nvPr/>
        </p:nvSpPr>
        <p:spPr>
          <a:xfrm>
            <a:off x="822960" y="2057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投資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「IT投資が経営にどう効いているか、説明できない」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7548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投資対効果を、経営の言葉で語れていない状態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4297680" y="1828800"/>
            <a:ext cx="35661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Badge"/>
          <p:cNvSpPr/>
          <p:nvPr/>
        </p:nvSpPr>
        <p:spPr>
          <a:xfrm>
            <a:off x="4572000" y="2057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リスク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9260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「IT起因の経営リスク（セキュリティ・BCP等）を把握できていない」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7548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止まったとき・漏れたときの影響が見えていない状態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8046720" y="1828800"/>
            <a:ext cx="35661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Badge"/>
          <p:cNvSpPr/>
          <p:nvPr/>
        </p:nvSpPr>
        <p:spPr>
          <a:xfrm>
            <a:off x="8321040" y="2057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競争力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9260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「DXで他社に後れを取っていないか不安」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7548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経営戦略とIT施策がつながっているか確信が持てない状態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※悩みは仮説です。営業・コンサルタントの方へのヒアリングで検証します。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コラムからWP、商談までを一本の導線でつなぐ</a:t>
            </a:r>
            <a:endParaRPr lang="en-US" sz="2800" dirty="0"/>
          </a:p>
        </p:txBody>
      </p:sp>
      <p:sp>
        <p:nvSpPr>
          <p:cNvPr id="3" name="Step"/>
          <p:cNvSpPr/>
          <p:nvPr/>
        </p:nvSpPr>
        <p:spPr>
          <a:xfrm>
            <a:off x="548640" y="1737360"/>
            <a:ext cx="256032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コラム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520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検索・SNSで経営層に出会う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89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指標：PV、WPへのクリック率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>
            <a:off x="3127248" y="3200400"/>
            <a:ext cx="237744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Step"/>
          <p:cNvSpPr/>
          <p:nvPr/>
        </p:nvSpPr>
        <p:spPr>
          <a:xfrm>
            <a:off x="3383280" y="1737360"/>
            <a:ext cx="256032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Badge"/>
          <p:cNvSpPr/>
          <p:nvPr/>
        </p:nvSpPr>
        <p:spPr>
          <a:xfrm>
            <a:off x="3611880" y="19659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ホワイトペーパー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520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10分のセルフチェックで現在地を知る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389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指標：ダウンロード数</a:t>
            </a:r>
            <a:endParaRPr lang="en-US" sz="1200" dirty="0"/>
          </a:p>
        </p:txBody>
      </p:sp>
      <p:sp>
        <p:nvSpPr>
          <p:cNvPr id="16" name="Arrow"/>
          <p:cNvSpPr/>
          <p:nvPr/>
        </p:nvSpPr>
        <p:spPr>
          <a:xfrm>
            <a:off x="5961888" y="3200400"/>
            <a:ext cx="237744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Step"/>
          <p:cNvSpPr/>
          <p:nvPr/>
        </p:nvSpPr>
        <p:spPr>
          <a:xfrm>
            <a:off x="6217920" y="1737360"/>
            <a:ext cx="256032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Badge"/>
          <p:cNvSpPr/>
          <p:nvPr/>
        </p:nvSpPr>
        <p:spPr>
          <a:xfrm>
            <a:off x="6446520" y="19659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結果の読み合わせ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520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NOだった項目を30分で一緒に確認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389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指標：実施率</a:t>
            </a:r>
            <a:endParaRPr lang="en-US" sz="1200" dirty="0"/>
          </a:p>
        </p:txBody>
      </p:sp>
      <p:sp>
        <p:nvSpPr>
          <p:cNvPr id="23" name="Arrow"/>
          <p:cNvSpPr/>
          <p:nvPr/>
        </p:nvSpPr>
        <p:spPr>
          <a:xfrm>
            <a:off x="8796528" y="3200400"/>
            <a:ext cx="237744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Step"/>
          <p:cNvSpPr/>
          <p:nvPr/>
        </p:nvSpPr>
        <p:spPr>
          <a:xfrm>
            <a:off x="9052560" y="1737360"/>
            <a:ext cx="2560320" cy="3291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Badge"/>
          <p:cNvSpPr/>
          <p:nvPr/>
        </p:nvSpPr>
        <p:spPr>
          <a:xfrm>
            <a:off x="9281160" y="1965960"/>
            <a:ext cx="548640" cy="5486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8116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28116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IT診断サービス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9281160" y="3520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2〜3カ月の診断へ進む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4389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指標：商談化数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394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営業が使える社内用の版（NO項目＝診断の仮説）も同時に用意し、問い合わせ前の会話にも使えるようにします。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悩みとIT診断の8領域を対応づける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5394960"/>
                <a:gridCol w="2011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経営層の悩み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対応する診断領域（サービスページ）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チェックリストの軸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5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313A"/>
                          </a:solidFill>
                        </a:rPr>
                        <a:t>① IT投資が経営にどう効いているか説明できない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313A"/>
                          </a:solidFill>
                        </a:rPr>
                        <a:t>IT投資、IT戦略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313A"/>
                          </a:solidFill>
                        </a:rPr>
                        <a:t>投資（7問）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313A"/>
                          </a:solidFill>
                        </a:rPr>
                        <a:t>② IT起因の経営リスクを把握できていない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313A"/>
                          </a:solidFill>
                        </a:rPr>
                        <a:t>ITリスク（セキュリティ・IT-BCP・内部統制）、IT調達（ベンダー依存）、ITオペレーション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313A"/>
                          </a:solidFill>
                        </a:rPr>
                        <a:t>リスク（7問）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313A"/>
                          </a:solidFill>
                        </a:rPr>
                        <a:t>③ DXで他社に後れを取っていないか不安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313A"/>
                          </a:solidFill>
                        </a:rPr>
                        <a:t>IT戦略、IT組織/IT人材、アプリケーション、ITアーキテクチャ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313A"/>
                          </a:solidFill>
                        </a:rPr>
                        <a:t>競争力（7問）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94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結果が3軸で返るため、「どの悩みに、診断のどの領域で応えられるか」がそのまま営業トークになります。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ホワイトペーパー案：10分で分かるIT健康診断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仮タイトル：「経営層のための IT健康診断チェックリスト」</a:t>
            </a:r>
            <a:endParaRPr lang="en-US" sz="1800" dirty="0"/>
          </a:p>
        </p:txBody>
      </p:sp>
      <p:sp>
        <p:nvSpPr>
          <p:cNvPr id="4" name="Badge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288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はじめに：なぜ今、経営がITの健康状態を問うべきか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8288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1p</a:t>
            </a:r>
            <a:endParaRPr lang="en-US" sz="1400" dirty="0"/>
          </a:p>
        </p:txBody>
      </p:sp>
      <p:sp>
        <p:nvSpPr>
          <p:cNvPr id="8" name="Badge"/>
          <p:cNvSpPr/>
          <p:nvPr/>
        </p:nvSpPr>
        <p:spPr>
          <a:xfrm>
            <a:off x="548640" y="254203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54203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使い方：10分、YES/NOで回答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54203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1p</a:t>
            </a:r>
            <a:endParaRPr lang="en-US" sz="1400" dirty="0"/>
          </a:p>
        </p:txBody>
      </p:sp>
      <p:sp>
        <p:nvSpPr>
          <p:cNvPr id="12" name="Badge"/>
          <p:cNvSpPr/>
          <p:nvPr/>
        </p:nvSpPr>
        <p:spPr>
          <a:xfrm>
            <a:off x="548640" y="325526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552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5526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チェックリスト：3軸×7問＝21問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255264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6〜8p</a:t>
            </a:r>
            <a:endParaRPr lang="en-US" sz="1400" dirty="0"/>
          </a:p>
        </p:txBody>
      </p:sp>
      <p:sp>
        <p:nvSpPr>
          <p:cNvPr id="16" name="Badge"/>
          <p:cNvSpPr/>
          <p:nvPr/>
        </p:nvSpPr>
        <p:spPr>
          <a:xfrm>
            <a:off x="548640" y="396849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9684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968496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スコアの見方と、よくある「危険パターン」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968496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2p</a:t>
            </a:r>
            <a:endParaRPr lang="en-US" sz="1400" dirty="0"/>
          </a:p>
        </p:txBody>
      </p:sp>
      <p:sp>
        <p:nvSpPr>
          <p:cNvPr id="20" name="Badge"/>
          <p:cNvSpPr/>
          <p:nvPr/>
        </p:nvSpPr>
        <p:spPr>
          <a:xfrm>
            <a:off x="548640" y="4681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81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68172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結果別の次の一手：今すぐ着手できる3つの打ち手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4681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1〜2p</a:t>
            </a:r>
            <a:endParaRPr lang="en-US" sz="1400" dirty="0"/>
          </a:p>
        </p:txBody>
      </p:sp>
      <p:sp>
        <p:nvSpPr>
          <p:cNvPr id="24" name="Badge"/>
          <p:cNvSpPr/>
          <p:nvPr/>
        </p:nvSpPr>
        <p:spPr>
          <a:xfrm>
            <a:off x="548640" y="53949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394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5394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専門家による診断のご案内と問い合わせ導線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0" y="53949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1p</a:t>
            </a:r>
            <a:endParaRPr lang="en-US" sz="1400" dirty="0"/>
          </a:p>
        </p:txBody>
      </p:sp>
      <p:sp>
        <p:nvSpPr>
          <p:cNvPr id="28" name="Card"/>
          <p:cNvSpPr/>
          <p:nvPr/>
        </p:nvSpPr>
        <p:spPr>
          <a:xfrm>
            <a:off x="7863840" y="1828800"/>
            <a:ext cx="3749040" cy="3840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92440" y="1965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仕様（案）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092440" y="2514600"/>
            <a:ext cx="3291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ボリューム：12〜16ページ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所要時間：約10分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回答形式：YES/NO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設問数：21問（3軸×7問）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出力：軸別スコアと判定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別版：営業用ヒアリングシート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チェックリストはYES/NOで答え、軸別に点数化する</a:t>
            </a:r>
            <a:endParaRPr lang="en-US" sz="2800" dirty="0"/>
          </a:p>
        </p:txBody>
      </p:sp>
      <p:sp>
        <p:nvSpPr>
          <p:cNvPr id="3" name="Stat"/>
          <p:cNvSpPr/>
          <p:nvPr/>
        </p:nvSpPr>
        <p:spPr>
          <a:xfrm>
            <a:off x="548640" y="1325880"/>
            <a:ext cx="3566160" cy="13716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21問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3軸×7問</a:t>
            </a:r>
            <a:endParaRPr lang="en-US" sz="1400" dirty="0"/>
          </a:p>
        </p:txBody>
      </p:sp>
      <p:sp>
        <p:nvSpPr>
          <p:cNvPr id="6" name="Stat"/>
          <p:cNvSpPr/>
          <p:nvPr/>
        </p:nvSpPr>
        <p:spPr>
          <a:xfrm>
            <a:off x="4297680" y="1325880"/>
            <a:ext cx="3566160" cy="13716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97680" y="13716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10分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回答の目安</a:t>
            </a:r>
            <a:endParaRPr lang="en-US" sz="1400" dirty="0"/>
          </a:p>
        </p:txBody>
      </p:sp>
      <p:sp>
        <p:nvSpPr>
          <p:cNvPr id="9" name="Stat"/>
          <p:cNvSpPr/>
          <p:nvPr/>
        </p:nvSpPr>
        <p:spPr>
          <a:xfrm>
            <a:off x="8046720" y="1325880"/>
            <a:ext cx="3566160" cy="13716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3716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YES=1点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NO=0点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718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軸ごとの判定（各7点満点）</a:t>
            </a:r>
            <a:endParaRPr lang="en-US" sz="1800" dirty="0"/>
          </a:p>
        </p:txBody>
      </p:sp>
      <p:sp>
        <p:nvSpPr>
          <p:cNvPr id="13" name="Grade"/>
          <p:cNvSpPr/>
          <p:nvPr/>
        </p:nvSpPr>
        <p:spPr>
          <a:xfrm>
            <a:off x="548640" y="3474720"/>
            <a:ext cx="1783080" cy="128016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66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5〜7点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良好</a:t>
            </a:r>
            <a:endParaRPr lang="en-US" sz="1600" dirty="0"/>
          </a:p>
        </p:txBody>
      </p:sp>
      <p:sp>
        <p:nvSpPr>
          <p:cNvPr id="16" name="Grade"/>
          <p:cNvSpPr/>
          <p:nvPr/>
        </p:nvSpPr>
        <p:spPr>
          <a:xfrm>
            <a:off x="2468880" y="3474720"/>
            <a:ext cx="1783080" cy="12801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468880" y="3566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3〜4点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2468880" y="4114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要注意</a:t>
            </a:r>
            <a:endParaRPr lang="en-US" sz="1600" dirty="0"/>
          </a:p>
        </p:txBody>
      </p:sp>
      <p:sp>
        <p:nvSpPr>
          <p:cNvPr id="19" name="Grade"/>
          <p:cNvSpPr/>
          <p:nvPr/>
        </p:nvSpPr>
        <p:spPr>
          <a:xfrm>
            <a:off x="4389120" y="3474720"/>
            <a:ext cx="1783080" cy="128016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3566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0〜2点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4114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要対応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9377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点数の区切りは暫定です。実際の診断案件の傾向をもとに調整します。</a:t>
            </a:r>
            <a:endParaRPr lang="en-US" sz="1200" dirty="0"/>
          </a:p>
        </p:txBody>
      </p:sp>
      <p:sp>
        <p:nvSpPr>
          <p:cNvPr id="23" name="Card"/>
          <p:cNvSpPr/>
          <p:nvPr/>
        </p:nvSpPr>
        <p:spPr>
          <a:xfrm>
            <a:off x="6400800" y="2971800"/>
            <a:ext cx="5212080" cy="3108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108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設計のポイント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36576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YES/NOで迷わないよう、設問は「文書がある」「直近1年以内に見直した」など事実で判定できる書き方にする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見せるのは合計点より軸別の結果。何が弱いかが分かる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致命的な項目（IT-BCP未整備など）がNOなら、点数に関係なく「最優先の確認事項」として警告する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設問のイメージ（全21問のうち9問）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356616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投資</a:t>
            </a:r>
            <a:endParaRPr lang="en-US" sz="2000" dirty="0"/>
          </a:p>
        </p:txBody>
      </p:sp>
      <p:sp>
        <p:nvSpPr>
          <p:cNvPr id="5" name="Question"/>
          <p:cNvSpPr/>
          <p:nvPr/>
        </p:nvSpPr>
        <p:spPr>
          <a:xfrm>
            <a:off x="731520" y="210312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中長期のIT投資計画があり、直近1年以内に経営会議で承認・見直しされている</a:t>
            </a:r>
            <a:endParaRPr lang="en-US" sz="1300" dirty="0"/>
          </a:p>
        </p:txBody>
      </p:sp>
      <p:sp>
        <p:nvSpPr>
          <p:cNvPr id="7" name="Question"/>
          <p:cNvSpPr/>
          <p:nvPr/>
        </p:nvSpPr>
        <p:spPr>
          <a:xfrm>
            <a:off x="731520" y="342900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4747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主要なIT投資について、投資前に期待効果を数値で定め、投資後に結果を確認している</a:t>
            </a:r>
            <a:endParaRPr lang="en-US" sz="1300" dirty="0"/>
          </a:p>
        </p:txBody>
      </p:sp>
      <p:sp>
        <p:nvSpPr>
          <p:cNvPr id="9" name="Question"/>
          <p:cNvSpPr/>
          <p:nvPr/>
        </p:nvSpPr>
        <p:spPr>
          <a:xfrm>
            <a:off x="731520" y="475488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IT予算を「維持・運用」と「新規・変革」に分けて説明できる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4297680" y="1325880"/>
            <a:ext cx="356616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463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リスク</a:t>
            </a:r>
            <a:endParaRPr lang="en-US" sz="2000" dirty="0"/>
          </a:p>
        </p:txBody>
      </p:sp>
      <p:sp>
        <p:nvSpPr>
          <p:cNvPr id="13" name="Question"/>
          <p:cNvSpPr/>
          <p:nvPr/>
        </p:nvSpPr>
        <p:spPr>
          <a:xfrm>
            <a:off x="4480560" y="210312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1488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重要システムごとに、停止時の事業影響と許容停止時間が文書で整理されている</a:t>
            </a:r>
            <a:endParaRPr lang="en-US" sz="1300" dirty="0"/>
          </a:p>
        </p:txBody>
      </p:sp>
      <p:sp>
        <p:nvSpPr>
          <p:cNvPr id="15" name="Question"/>
          <p:cNvSpPr/>
          <p:nvPr/>
        </p:nvSpPr>
        <p:spPr>
          <a:xfrm>
            <a:off x="4480560" y="342900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34747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IT-BCP（復旧手順）があり、直近2年以内に訓練または見直しを行った</a:t>
            </a:r>
            <a:endParaRPr lang="en-US" sz="1300" dirty="0"/>
          </a:p>
        </p:txBody>
      </p:sp>
      <p:sp>
        <p:nvSpPr>
          <p:cNvPr id="17" name="Question"/>
          <p:cNvSpPr/>
          <p:nvPr/>
        </p:nvSpPr>
        <p:spPr>
          <a:xfrm>
            <a:off x="4480560" y="475488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主要システムの運用が、特定のベンダーや担当者なしでも継続できる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8046720" y="1325880"/>
            <a:ext cx="356616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1463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競争力</a:t>
            </a:r>
            <a:endParaRPr lang="en-US" sz="2000" dirty="0"/>
          </a:p>
        </p:txBody>
      </p:sp>
      <p:sp>
        <p:nvSpPr>
          <p:cNvPr id="21" name="Question"/>
          <p:cNvSpPr/>
          <p:nvPr/>
        </p:nvSpPr>
        <p:spPr>
          <a:xfrm>
            <a:off x="8229600" y="210312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21040" y="21488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経営課題とIT施策の対応関係を、1枚の資料で説明できる</a:t>
            </a:r>
            <a:endParaRPr lang="en-US" sz="1300" dirty="0"/>
          </a:p>
        </p:txBody>
      </p:sp>
      <p:sp>
        <p:nvSpPr>
          <p:cNvPr id="23" name="Question"/>
          <p:cNvSpPr/>
          <p:nvPr/>
        </p:nvSpPr>
        <p:spPr>
          <a:xfrm>
            <a:off x="8229600" y="342900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34747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IT人材に求める役割・スキルが定義され、育成または採用の計画がある</a:t>
            </a:r>
            <a:endParaRPr lang="en-US" sz="1300" dirty="0"/>
          </a:p>
        </p:txBody>
      </p:sp>
      <p:sp>
        <p:nvSpPr>
          <p:cNvPr id="25" name="Question"/>
          <p:cNvSpPr/>
          <p:nvPr/>
        </p:nvSpPr>
        <p:spPr>
          <a:xfrm>
            <a:off x="8229600" y="475488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業務システムの改善・刷新の優先順位が、経営視点の基準で決まっている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すべて「YES／NO」で回答します。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流入コラム案：出口は「チェックリストで現在地を確認」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603504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悩み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仮タイトル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狙う検索意図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5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2313A"/>
                          </a:solidFill>
                        </a:rPr>
                        <a:t>投資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IT投資の効果を経営に説明できない本当の理由と、投資対効果の考え方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IT投資 効果測定、IT投資 ROI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2313A"/>
                          </a:solidFill>
                        </a:rPr>
                        <a:t>投資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取締役会・経営会議で承認されるIT投資計画の作り方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IT投資計画、IT中期計画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2313A"/>
                          </a:solidFill>
                        </a:rPr>
                        <a:t>リスク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経営者が押さえるべきITリスク5分類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ITリスク 経営、IT統制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2313A"/>
                          </a:solidFill>
                        </a:rPr>
                        <a:t>リスク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IT-BCPとは？「止まったらどうなるか」を経営が答えられるか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IT-BCP とは、システム停止 事業影響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2313A"/>
                          </a:solidFill>
                        </a:rPr>
                        <a:t>競争力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DXで他社に後れを取っているか？経営層向け自己チェックの観点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DX 遅れ、DX 自社 評価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2313A"/>
                          </a:solidFill>
                        </a:rPr>
                        <a:t>競争力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IT戦略と経営戦略がつながらない会社に共通する3つの症状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IT戦略 策定、IT戦略 経営戦略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2313A"/>
                          </a:solidFill>
                        </a:rPr>
                        <a:t>全体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「IT診断」とは何か：やること、期間、費用感の考え方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313A"/>
                          </a:solidFill>
                        </a:rPr>
                        <a:t>IT診断 とは、IT診断 コンサル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各コラムの末尾に、該当軸の設問を2〜3問だけ抜粋して掲載し、WPの中身を想像できるようにします。検索意図は想定で、キーワード調査で検証します。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進め方：リスク軸のコラムから先行して拡充する</a:t>
            </a:r>
            <a:endParaRPr lang="en-US" sz="2800" dirty="0"/>
          </a:p>
        </p:txBody>
      </p:sp>
      <p:sp>
        <p:nvSpPr>
          <p:cNvPr id="3" name="Phase"/>
          <p:cNvSpPr/>
          <p:nvPr/>
        </p:nvSpPr>
        <p:spPr>
          <a:xfrm>
            <a:off x="548640" y="1371600"/>
            <a:ext cx="26517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準備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要件整理・設問確定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0040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キーワード調査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設問21問と判定基準の確定（営業・コンサルタントの監修）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統計・出典の確認方針</a:t>
            </a:r>
            <a:endParaRPr lang="en-US" sz="1300" dirty="0"/>
          </a:p>
        </p:txBody>
      </p:sp>
      <p:sp>
        <p:nvSpPr>
          <p:cNvPr id="9" name="Phase"/>
          <p:cNvSpPr/>
          <p:nvPr/>
        </p:nvSpPr>
        <p:spPr>
          <a:xfrm>
            <a:off x="3383280" y="1371600"/>
            <a:ext cx="26517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"/>
          <p:cNvSpPr/>
          <p:nvPr/>
        </p:nvSpPr>
        <p:spPr>
          <a:xfrm>
            <a:off x="361188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600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先行公開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コラム#3、#1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20040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経営層が反応しやすいリスク・投資から着手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末尾から「近日公開のWP」へ事前登録</a:t>
            </a:r>
            <a:endParaRPr lang="en-US" sz="1300" dirty="0"/>
          </a:p>
        </p:txBody>
      </p:sp>
      <p:sp>
        <p:nvSpPr>
          <p:cNvPr id="15" name="Phase"/>
          <p:cNvSpPr/>
          <p:nvPr/>
        </p:nvSpPr>
        <p:spPr>
          <a:xfrm>
            <a:off x="6217920" y="1371600"/>
            <a:ext cx="26517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Badge"/>
          <p:cNvSpPr/>
          <p:nvPr/>
        </p:nvSpPr>
        <p:spPr>
          <a:xfrm>
            <a:off x="644652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1600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WP公開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WP制作・公開 / コラム#5、#4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320040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WP本編と営業用版の制作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ダウンロードフォームと結果の読み方メール</a:t>
            </a:r>
            <a:endParaRPr lang="en-US" sz="1300" dirty="0"/>
          </a:p>
        </p:txBody>
      </p:sp>
      <p:sp>
        <p:nvSpPr>
          <p:cNvPr id="21" name="Phase"/>
          <p:cNvSpPr/>
          <p:nvPr/>
        </p:nvSpPr>
        <p:spPr>
          <a:xfrm>
            <a:off x="9052560" y="1371600"/>
            <a:ext cx="26517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Badge"/>
          <p:cNvSpPr/>
          <p:nvPr/>
        </p:nvSpPr>
        <p:spPr>
          <a:xfrm>
            <a:off x="92811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811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966960" y="1600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拡充・改善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コラム#2、#6、#α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320040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残りのコラムを公開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指標を見て設問・導線を改善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080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スケジュールの期間は、ご体制・ご予算の確認後にお出しします。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営業での活用と、見るべき指標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440680" cy="3840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営業での使い方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4983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営業用の版：回答済みの結果を見ながら、NOの項目を診断の仮説として話せる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結果の読み合わせ（30分）を、問い合わせ前の入口にする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展示会・セミナー・既存顧客への案内でも、同じチェックリストを配布できる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指標の見方（ファネル）</a:t>
            </a:r>
            <a:endParaRPr lang="en-US" sz="1800" dirty="0"/>
          </a:p>
        </p:txBody>
      </p:sp>
      <p:sp>
        <p:nvSpPr>
          <p:cNvPr id="7" name="Funnel"/>
          <p:cNvSpPr/>
          <p:nvPr/>
        </p:nvSpPr>
        <p:spPr>
          <a:xfrm>
            <a:off x="6263640" y="2011680"/>
            <a:ext cx="5349240" cy="77724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63640" y="2011680"/>
            <a:ext cx="5349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コラム：PV・WPへのクリック率</a:t>
            </a:r>
            <a:endParaRPr lang="en-US" sz="1400" dirty="0"/>
          </a:p>
        </p:txBody>
      </p:sp>
      <p:sp>
        <p:nvSpPr>
          <p:cNvPr id="9" name="Funnel"/>
          <p:cNvSpPr/>
          <p:nvPr/>
        </p:nvSpPr>
        <p:spPr>
          <a:xfrm>
            <a:off x="6652260" y="2971800"/>
            <a:ext cx="4572000" cy="77724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52260" y="2971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WP：ダウンロード数</a:t>
            </a:r>
            <a:endParaRPr lang="en-US" sz="1400" dirty="0"/>
          </a:p>
        </p:txBody>
      </p:sp>
      <p:sp>
        <p:nvSpPr>
          <p:cNvPr id="11" name="Funnel"/>
          <p:cNvSpPr/>
          <p:nvPr/>
        </p:nvSpPr>
        <p:spPr>
          <a:xfrm>
            <a:off x="7018020" y="3931920"/>
            <a:ext cx="3840480" cy="77724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18020" y="39319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読み合わせ：実施率</a:t>
            </a:r>
            <a:endParaRPr lang="en-US" sz="1400" dirty="0"/>
          </a:p>
        </p:txBody>
      </p:sp>
      <p:sp>
        <p:nvSpPr>
          <p:cNvPr id="13" name="Funnel"/>
          <p:cNvSpPr/>
          <p:nvPr/>
        </p:nvSpPr>
        <p:spPr>
          <a:xfrm>
            <a:off x="7383780" y="4892040"/>
            <a:ext cx="3108960" cy="7772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83780" y="48920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IT診断：商談化数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589788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目標値は、現状の数値を伺ってから設定します。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ご確認事項と次のステップ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440680" cy="3931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ご確認したいこと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4983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対象企業の規模（中堅か大企業か）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設問・判定基準を監修いただける方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ダウンロードフォームの取得項目と、営業への引き継ぎ方法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コラムの掲載先と、現在のアクセス状況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公的データを引用する際の出典の扱い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6172200" y="1371600"/>
            <a:ext cx="5440680" cy="3931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08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次のステップ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57400"/>
            <a:ext cx="4983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本資料へのご意見・優先順位のご確認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キーワード調査の実施（コラムの優先順位づけ）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チェックリスト全21問と判定ルールの草案作成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最初のコラム1本の構成案と本文ドラフト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体制・スケジュール・お見積りのご提示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BJ IT Shindan Proposal">
  <a:themeElements>
    <a:clrScheme name="DBJ IT Shindan Proposal">
      <a:dk1>
        <a:srgbClr val="22313A"/>
      </a:dk1>
      <a:lt1>
        <a:srgbClr val="FFFFFF"/>
      </a:lt1>
      <a:dk2>
        <a:srgbClr val="0B4F5C"/>
      </a:dk2>
      <a:lt2>
        <a:srgbClr val="EEF4F5"/>
      </a:lt2>
      <a:accent1>
        <a:srgbClr val="0B7285"/>
      </a:accent1>
      <a:accent2>
        <a:srgbClr val="E8A33D"/>
      </a:accent2>
      <a:accent3>
        <a:srgbClr val="2E8B6A"/>
      </a:accent3>
      <a:accent4>
        <a:srgbClr val="C8473D"/>
      </a:accent4>
      <a:accent5>
        <a:srgbClr val="6B7C85"/>
      </a:accent5>
      <a:accent6>
        <a:srgbClr val="BFD6DA"/>
      </a:accent6>
      <a:hlink>
        <a:srgbClr val="0B7285"/>
      </a:hlink>
      <a:folHlink>
        <a:srgbClr val="6B7C85"/>
      </a:folHlink>
    </a:clrScheme>
    <a:fontScheme name="DBJ IT Shindan Proposal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IT診断サービス コンテンツ施策のご提案</dc:title>
  <dc:subject>PptxGenJS Presentation</dc:subject>
  <dc:creator>PptxGenJS</dc:creator>
  <cp:lastModifiedBy>PptxGenJS</cp:lastModifiedBy>
  <cp:revision>1</cp:revision>
  <dcterms:created xsi:type="dcterms:W3CDTF">2026-10-27T00:56:04Z</dcterms:created>
  <dcterms:modified xsi:type="dcterms:W3CDTF">2026-10-27T00:56:04Z</dcterms:modified>
</cp:coreProperties>
</file>