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コラム制作・ホワイトペーパーデザイン ご提案・お見積り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PROPOSAL &amp; ESTIMATE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Google関連ブログ コラム制作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＋ ホワイトペーパーデザイン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ご提案・お見積り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対象サイト：SB C&amp;S ライセンスカウンター Google ブログ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https://licensecounter.jp/google/blog/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5120640"/>
            <a:ext cx="10515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303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ご提出先：SB C&amp;S株式会社 御中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ご提出日：2026年　月　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ご提出元：株式会社イノーバ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1. ご依頼内容とご提案の概要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コラム制作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10本。ご指定のテーマに沿って制作。既存ブログのトーン＆マナーに合わせて執筆します。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6172200" y="1371600"/>
            <a:ext cx="544068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08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ホワイトペーパー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1本（デザインのみ・20ページ前後）。ご支給の骨子（本文・図版イメージ）を図版を含めてデザイン化します。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3840480"/>
            <a:ext cx="544068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77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納品物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43484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コラム：本文＋アイキャッチ1枚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ホワイトペーパー：完成デザインデータ（形式は要ご相談）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172200" y="3840480"/>
            <a:ext cx="544068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977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進め方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43484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制作に必要な情報をご共有いただいたうえで着手。コラムは3本・4本・3本の3タームで五月雨に進行します。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2. トーン＆マナーとデザイン方針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既存コラムのトーン＆マナー（サイト確認結果）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見出しは「【】」による強調や、「3選」「5ステップ」など数字を使った具体的な表現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読者別（IT管理者向け／パートナー向け／製品解説）に切り分けた構成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アイキャッチはストックフォトを使用した、教育・ビジネス双方に親和性のあるビジュアル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6172200" y="1371600"/>
            <a:ext cx="544068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08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デザイン方針（共通）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白背景・濃いグレー文字で、シンプルに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表や図版などで色を足す場合のみネイビーを使用</a:t>
            </a:r>
            <a:endParaRPr lang="en-US" sz="1400" dirty="0"/>
          </a:p>
        </p:txBody>
      </p:sp>
      <p:sp>
        <p:nvSpPr>
          <p:cNvPr id="9" name="Swatch"/>
          <p:cNvSpPr/>
          <p:nvPr/>
        </p:nvSpPr>
        <p:spPr>
          <a:xfrm>
            <a:off x="6172200" y="3749040"/>
            <a:ext cx="1691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5029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白背景</a:t>
            </a:r>
            <a:endParaRPr lang="en-US" sz="1200" dirty="0"/>
          </a:p>
        </p:txBody>
      </p:sp>
      <p:sp>
        <p:nvSpPr>
          <p:cNvPr id="11" name="Swatch"/>
          <p:cNvSpPr/>
          <p:nvPr/>
        </p:nvSpPr>
        <p:spPr>
          <a:xfrm>
            <a:off x="8046720" y="3749040"/>
            <a:ext cx="1691640" cy="1188720"/>
          </a:xfrm>
          <a:prstGeom prst="rect">
            <a:avLst/>
          </a:prstGeom>
          <a:solidFill>
            <a:srgbClr val="333333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5029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濃いグレー文字</a:t>
            </a:r>
            <a:endParaRPr lang="en-US" sz="1200" dirty="0"/>
          </a:p>
        </p:txBody>
      </p:sp>
      <p:sp>
        <p:nvSpPr>
          <p:cNvPr id="13" name="Swatch"/>
          <p:cNvSpPr/>
          <p:nvPr/>
        </p:nvSpPr>
        <p:spPr>
          <a:xfrm>
            <a:off x="9921240" y="3749040"/>
            <a:ext cx="169164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21240" y="5029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ネイビー（表・図版）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3. 共有いただきたい情報①　コラム（1本ごと）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6616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テーマ（対策キーワード）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例：Chromebook 初期設定／Gemini 活用 など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4297680" y="1371600"/>
            <a:ext cx="356616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ペルソナ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IT担当者（エンドユーザー）または パートナー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※職種・課題・知識レベルがあれば併記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8046720" y="1371600"/>
            <a:ext cx="356616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読了後の理想の態度変容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例：製品の導入検討を始める／資料請求する／パートナー認定取得を検討する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必須項目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上記3項目は必須です。スプレッドシート形式のシートをご用意し、1本ごとにご記入いただく想定です。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3. 共有いただきたい情報②　あると精度が上がる情報</a:t>
            </a:r>
            <a:endParaRPr lang="en-US" sz="2800" dirty="0"/>
          </a:p>
        </p:txBody>
      </p:sp>
      <p:graphicFrame>
        <p:nvGraphicFramePr>
          <p:cNvPr id="6" name="Info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内容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</a:rPr>
                        <a:t>誘導先（CTA）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記事末尾で誘導したいページ・資料・お問い合わせ先のURL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</a:rPr>
                        <a:t>訴求ポイント・伝えたい事実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強調したい機能・メリット、数値・事例、最新のアップデート情報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</a:rPr>
                        <a:t>参考資料・一次情報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製品資料、既存記事、Google公式情報、ヒアリング可能な担当者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</a:rPr>
                        <a:t>競合・参考記事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意識している競合記事、目指したい記事のイメージ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</a:rPr>
                        <a:t>文字数・構成の目安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既存コラムに合わせる／ご希望の文字数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</a:rPr>
                        <a:t>NG表現・表記ルール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用語の統一ルール、使用禁止表現、Google／SB C&amp;S側のレギュレーション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</a:rPr>
                        <a:t>内部リンク・関連記事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文中や末尾で紹介したい自社ページ・過去記事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</a:rPr>
                        <a:t>確認フロー・監修者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確認者、確認の想定日数、監修／法務・Google側確認の有無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</a:rPr>
                        <a:t>公開予定日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希望公開日、季節イベント等との連動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</a:rPr>
                        <a:t>アイキャッチの希望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イメージ・使用可能なストックフォト契約の有無、掲載サイズ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3. 共有いただきたい情報③　ホワイトペーパー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661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骨子データ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本文テキスト、図版イメージ（PowerPoint／手書き可）、ページ構成案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297680" y="1371600"/>
            <a:ext cx="35661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ブランド素材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9659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ロゴ、レギュレーション（使用可能な色・フォント）、掲載必須の注意書き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8046720" y="1371600"/>
            <a:ext cx="35661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仕様・納品形式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19659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判型（A4縦／横など）、ページ数、PDF／編集可能データのご希望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4. ご提案スケジュール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51760" y="1234440"/>
            <a:ext cx="2121408" cy="3200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51760" y="12344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1ヶ月目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73168" y="1234440"/>
            <a:ext cx="2121408" cy="3200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73168" y="12344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2ヶ月目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94576" y="1234440"/>
            <a:ext cx="2121408" cy="3200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94576" y="12344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3ヶ月目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015984" y="1234440"/>
            <a:ext cx="2121408" cy="3200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15984" y="12344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4ヶ月目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1W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182112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2W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712464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3W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242816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4W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1W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2W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833872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3W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4W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894576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1W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424928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2W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3W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485632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4W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015984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1W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546336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2W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076688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3W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607040" y="157276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2011680"/>
            <a:ext cx="10588752" cy="5943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第1ターム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コラム3本</a:t>
            </a:r>
            <a:endParaRPr lang="en-US" sz="1200" dirty="0"/>
          </a:p>
        </p:txBody>
      </p:sp>
      <p:sp>
        <p:nvSpPr>
          <p:cNvPr id="29" name="Bar"/>
          <p:cNvSpPr/>
          <p:nvPr/>
        </p:nvSpPr>
        <p:spPr>
          <a:xfrm>
            <a:off x="2670048" y="2103120"/>
            <a:ext cx="493776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70048" y="210312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Bar"/>
          <p:cNvSpPr/>
          <p:nvPr/>
        </p:nvSpPr>
        <p:spPr>
          <a:xfrm>
            <a:off x="3200400" y="2103120"/>
            <a:ext cx="493776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00400" y="210312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3" name="Bar"/>
          <p:cNvSpPr/>
          <p:nvPr/>
        </p:nvSpPr>
        <p:spPr>
          <a:xfrm>
            <a:off x="3730752" y="2103120"/>
            <a:ext cx="1024128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730752" y="210312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Bar"/>
          <p:cNvSpPr/>
          <p:nvPr/>
        </p:nvSpPr>
        <p:spPr>
          <a:xfrm>
            <a:off x="4791456" y="2103120"/>
            <a:ext cx="493776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91456" y="210312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7" name="Bar"/>
          <p:cNvSpPr/>
          <p:nvPr/>
        </p:nvSpPr>
        <p:spPr>
          <a:xfrm>
            <a:off x="5321808" y="2103120"/>
            <a:ext cx="1024128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1808" y="210312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Bar"/>
          <p:cNvSpPr/>
          <p:nvPr/>
        </p:nvSpPr>
        <p:spPr>
          <a:xfrm>
            <a:off x="6382512" y="2103120"/>
            <a:ext cx="493776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82512" y="210312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2743200"/>
            <a:ext cx="105887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2743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第2ターム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コラム4本</a:t>
            </a:r>
            <a:endParaRPr lang="en-US" sz="1200" dirty="0"/>
          </a:p>
        </p:txBody>
      </p:sp>
      <p:sp>
        <p:nvSpPr>
          <p:cNvPr id="43" name="Bar"/>
          <p:cNvSpPr/>
          <p:nvPr/>
        </p:nvSpPr>
        <p:spPr>
          <a:xfrm>
            <a:off x="4791456" y="2834640"/>
            <a:ext cx="493776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791456" y="283464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5" name="Bar"/>
          <p:cNvSpPr/>
          <p:nvPr/>
        </p:nvSpPr>
        <p:spPr>
          <a:xfrm>
            <a:off x="5321808" y="2834640"/>
            <a:ext cx="493776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321808" y="283464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7" name="Bar"/>
          <p:cNvSpPr/>
          <p:nvPr/>
        </p:nvSpPr>
        <p:spPr>
          <a:xfrm>
            <a:off x="5852160" y="2834640"/>
            <a:ext cx="1024128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852160" y="283464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9" name="Bar"/>
          <p:cNvSpPr/>
          <p:nvPr/>
        </p:nvSpPr>
        <p:spPr>
          <a:xfrm>
            <a:off x="6912864" y="2834640"/>
            <a:ext cx="493776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912864" y="283464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51" name="Bar"/>
          <p:cNvSpPr/>
          <p:nvPr/>
        </p:nvSpPr>
        <p:spPr>
          <a:xfrm>
            <a:off x="7443216" y="2834640"/>
            <a:ext cx="1024128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43216" y="283464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3" name="Bar"/>
          <p:cNvSpPr/>
          <p:nvPr/>
        </p:nvSpPr>
        <p:spPr>
          <a:xfrm>
            <a:off x="8503920" y="2834640"/>
            <a:ext cx="493776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503920" y="283464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" y="3474720"/>
            <a:ext cx="10588752" cy="5943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080" y="3474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第3ターム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コラム3本</a:t>
            </a:r>
            <a:endParaRPr lang="en-US" sz="1200" dirty="0"/>
          </a:p>
        </p:txBody>
      </p:sp>
      <p:sp>
        <p:nvSpPr>
          <p:cNvPr id="57" name="Bar"/>
          <p:cNvSpPr/>
          <p:nvPr/>
        </p:nvSpPr>
        <p:spPr>
          <a:xfrm>
            <a:off x="6912864" y="3566160"/>
            <a:ext cx="493776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912864" y="356616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9" name="Bar"/>
          <p:cNvSpPr/>
          <p:nvPr/>
        </p:nvSpPr>
        <p:spPr>
          <a:xfrm>
            <a:off x="7443216" y="3566160"/>
            <a:ext cx="493776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443216" y="356616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61" name="Bar"/>
          <p:cNvSpPr/>
          <p:nvPr/>
        </p:nvSpPr>
        <p:spPr>
          <a:xfrm>
            <a:off x="7973568" y="3566160"/>
            <a:ext cx="1024128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973568" y="356616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63" name="Bar"/>
          <p:cNvSpPr/>
          <p:nvPr/>
        </p:nvSpPr>
        <p:spPr>
          <a:xfrm>
            <a:off x="9034272" y="3566160"/>
            <a:ext cx="493776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034272" y="356616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65" name="Bar"/>
          <p:cNvSpPr/>
          <p:nvPr/>
        </p:nvSpPr>
        <p:spPr>
          <a:xfrm>
            <a:off x="9564624" y="3566160"/>
            <a:ext cx="1024128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564624" y="356616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67" name="Bar"/>
          <p:cNvSpPr/>
          <p:nvPr/>
        </p:nvSpPr>
        <p:spPr>
          <a:xfrm>
            <a:off x="10625328" y="3566160"/>
            <a:ext cx="493776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625328" y="356616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48640" y="4206240"/>
            <a:ext cx="105887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40080" y="4206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ホワイトペーパー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デザイン</a:t>
            </a:r>
            <a:endParaRPr lang="en-US" sz="1200" dirty="0"/>
          </a:p>
        </p:txBody>
      </p:sp>
      <p:sp>
        <p:nvSpPr>
          <p:cNvPr id="71" name="Bar"/>
          <p:cNvSpPr/>
          <p:nvPr/>
        </p:nvSpPr>
        <p:spPr>
          <a:xfrm>
            <a:off x="6382512" y="4297680"/>
            <a:ext cx="493776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382512" y="429768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3" name="Bar"/>
          <p:cNvSpPr/>
          <p:nvPr/>
        </p:nvSpPr>
        <p:spPr>
          <a:xfrm>
            <a:off x="6912864" y="4297680"/>
            <a:ext cx="493776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912864" y="429768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75" name="Bar"/>
          <p:cNvSpPr/>
          <p:nvPr/>
        </p:nvSpPr>
        <p:spPr>
          <a:xfrm>
            <a:off x="7443216" y="4297680"/>
            <a:ext cx="1024128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443216" y="429768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77" name="Bar"/>
          <p:cNvSpPr/>
          <p:nvPr/>
        </p:nvSpPr>
        <p:spPr>
          <a:xfrm>
            <a:off x="8503920" y="4297680"/>
            <a:ext cx="493776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503920" y="429768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79" name="Bar"/>
          <p:cNvSpPr/>
          <p:nvPr/>
        </p:nvSpPr>
        <p:spPr>
          <a:xfrm>
            <a:off x="9034272" y="4297680"/>
            <a:ext cx="493776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034272" y="429768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81" name="Bar"/>
          <p:cNvSpPr/>
          <p:nvPr/>
        </p:nvSpPr>
        <p:spPr>
          <a:xfrm>
            <a:off x="9564624" y="4297680"/>
            <a:ext cx="493776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564624" y="429768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</a:rPr>
              <a:t>コラム（1ターム＝2ヶ月）　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①アウトライン制作 → ②アウトライン確認 → ③初稿制作 → ④初稿確認 → ⑤修正原稿制作 → ⑥ご確認・校了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ホワイトペーパー　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①表紙デザイン2パターン提示 → ②確認・選定FB → ③中面デザイン（2週間）→ ④全体デザイン確認 → ⑤修正 → ⑥ご確認・校了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548640" y="5806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※ 週数は目安です。ご確認期間、骨子・必要情報のご共有時期により前後します。開始時期は決定後に日付入りで再提出します。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5. お見積り</a:t>
            </a:r>
            <a:endParaRPr lang="en-US" sz="2800" dirty="0"/>
          </a:p>
        </p:txBody>
      </p:sp>
      <p:sp>
        <p:nvSpPr>
          <p:cNvPr id="3" name="PlanCard"/>
          <p:cNvSpPr/>
          <p:nvPr/>
        </p:nvSpPr>
        <p:spPr>
          <a:xfrm>
            <a:off x="548640" y="1371600"/>
            <a:ext cx="544068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プランA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コラム10本のみ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70,000円 × 10本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700,000円</a:t>
            </a:r>
            <a:endParaRPr lang="en-US" sz="4000" dirty="0"/>
          </a:p>
        </p:txBody>
      </p:sp>
      <p:sp>
        <p:nvSpPr>
          <p:cNvPr id="8" name="PlanCard"/>
          <p:cNvSpPr/>
          <p:nvPr/>
        </p:nvSpPr>
        <p:spPr>
          <a:xfrm>
            <a:off x="6172200" y="1371600"/>
            <a:ext cx="544068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プランB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874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コラム10本＋ホワイトペーパーデザイン1本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60,000円 × 10本 ＋ 300,000円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291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900,000円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プランBでは、ホワイトペーパーと同時にご発注いただくことで、コラム単価を70,000円から60,000円に優遇しています（プランAとの差額は200,000円）。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94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※ 金額は税別表記です。（消費税の扱いは提出前に要確認）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6. お見積りの範囲と前提条件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お見積りの範囲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コラム：本文＋アイキャッチ1枚を納品（アウトライン・初稿・修正原稿・校了までの工程を含む）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ホワイトペーパー：骨子を元にした、図版を含む20ページ前後のデザイン（表紙2パターン提示、中面デザイン、修正、校了まで）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6172200" y="1371600"/>
            <a:ext cx="544068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087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含まれないもの・前提条件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ホワイトペーパーの骨子（本文・図版イメージ）はご支給いただく前提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ストックフォトの購入費用、ホワイトペーパー用の有償素材費は別途ご相談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ブログへの入稿・公開作業は含まれません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必要情報のご共有後に着手。ご確認が遅れた場合はスケジュールが後ろ倒しになります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修正は各ターム・各工程で規定回数を想定。大幅な構成変更・ページ数追加は別途お見積り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BCS Proposal">
  <a:themeElements>
    <a:clrScheme name="SBCS Proposal">
      <a:dk1>
        <a:srgbClr val="333333"/>
      </a:dk1>
      <a:lt1>
        <a:srgbClr val="FFFFFF"/>
      </a:lt1>
      <a:dk2>
        <a:srgbClr val="1F3A5F"/>
      </a:dk2>
      <a:lt2>
        <a:srgbClr val="F4F6F9"/>
      </a:lt2>
      <a:accent1>
        <a:srgbClr val="1F3A5F"/>
      </a:accent1>
      <a:accent2>
        <a:srgbClr val="6B7280"/>
      </a:accent2>
      <a:accent3>
        <a:srgbClr val="D9DDE3"/>
      </a:accent3>
      <a:accent4>
        <a:srgbClr val="333333"/>
      </a:accent4>
      <a:accent5>
        <a:srgbClr val="1F3A5F"/>
      </a:accent5>
      <a:accent6>
        <a:srgbClr val="6B7280"/>
      </a:accent6>
      <a:hlink>
        <a:srgbClr val="1F3A5F"/>
      </a:hlink>
      <a:folHlink>
        <a:srgbClr val="6B7280"/>
      </a:folHlink>
    </a:clrScheme>
    <a:fontScheme name="SBCS Proposal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コラム制作・ホワイトペーパーデザイン ご提案・お見積り</dc:title>
  <dc:subject>PptxGenJS Presentation</dc:subject>
  <dc:creator>PptxGenJS</dc:creator>
  <cp:lastModifiedBy>PptxGenJS</cp:lastModifiedBy>
  <cp:revision>1</cp:revision>
  <dcterms:created xsi:type="dcterms:W3CDTF">2026-10-02T06:29:49Z</dcterms:created>
  <dcterms:modified xsi:type="dcterms:W3CDTF">2026-10-02T06:29:49Z</dcterms:modified>
</cp:coreProperties>
</file>